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Welcome the judges, say the one-liner: SABZ is a traffic signal that can see. Then hand the story to yourself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Land the scale with the 4.1 million number. This is why the problem matters. Then: why do the signals fail? Slide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ABDUR REHMAN presents. Contrast the three cards. End with: so we built a signal that can see. Hand to Bilal for what is inside.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Walk the four boxes left to right. Emphasize: the loop runs every second, and step 3 is not learned, it is guaranteed.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Explain like to a smart friend: 18 numbers in, 2 scores out, pick the winner. The reward is the key insight: waiting is the punishment. Mention we wrote the learner ourselves.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Judges care about this more than the network. Say it slowly: no weight update can ever change this rule. It is guaranteed, not hoped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BILAL presents. Say the honest version before anyone asks. Credibility is the point of this slide: calibration yes, raw training no, Lahore data comes from the pilot.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AWAIS presents. Read the table slowly. Wins on asymmetric and school, tie on balanced. Say the tie out loud yourself; it proves honesty. Training is still running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AWAIS presents. Pause. Let the line land. Then switch to the live demo and narrate: watch the green hold because the camera sees the queue still discharging.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presents. Three phases, each earns the next. Stress: the city can always override. A system the city cannot supervise is a system the city will not buy.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presents. Keep it short and concrete: who pays, how we charge, why we win. Then close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DAWOOD closes. End with the line, pause, invite questions. If time was cut, this slide alone carries the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184648" y="1005840"/>
            <a:ext cx="1828800" cy="650240"/>
          </a:xfrm>
          <a:prstGeom prst="rect">
            <a:avLst/>
          </a:prstGeom>
        </p:spPr>
      </p:pic>
      <p:sp>
        <p:nvSpPr>
          <p:cNvPr id="3" name="TextBox 2"/>
          <p:cNvSpPr txBox="1"/>
          <p:nvPr/>
        </p:nvSpPr>
        <p:spPr>
          <a:xfrm>
            <a:off x="640080" y="2834640"/>
            <a:ext cx="10881360" cy="1097280"/>
          </a:xfrm>
          <a:prstGeom prst="rect">
            <a:avLst/>
          </a:prstGeom>
          <a:noFill/>
        </p:spPr>
        <p:txBody>
          <a:bodyPr wrap="square">
            <a:spAutoFit/>
          </a:bodyPr>
          <a:lstStyle/>
          <a:p>
            <a:pPr algn="ctr">
              <a:spcAft>
                <a:spcPts val="600"/>
              </a:spcAft>
            </a:pPr>
            <a:r>
              <a:rPr sz="7200" b="1">
                <a:solidFill>
                  <a:srgbClr val="EDF2F7"/>
                </a:solidFill>
                <a:latin typeface="Space Grotesk"/>
              </a:rPr>
              <a:t>SABZ</a:t>
            </a:r>
          </a:p>
        </p:txBody>
      </p:sp>
      <p:sp>
        <p:nvSpPr>
          <p:cNvPr id="4" name="TextBox 3"/>
          <p:cNvSpPr txBox="1"/>
          <p:nvPr/>
        </p:nvSpPr>
        <p:spPr>
          <a:xfrm>
            <a:off x="640080" y="3794760"/>
            <a:ext cx="10881360" cy="548640"/>
          </a:xfrm>
          <a:prstGeom prst="rect">
            <a:avLst/>
          </a:prstGeom>
          <a:noFill/>
        </p:spPr>
        <p:txBody>
          <a:bodyPr wrap="square">
            <a:spAutoFit/>
          </a:bodyPr>
          <a:lstStyle/>
          <a:p>
            <a:pPr algn="ctr">
              <a:spcAft>
                <a:spcPts val="600"/>
              </a:spcAft>
            </a:pPr>
            <a:r>
              <a:rPr sz="2000" b="1">
                <a:solidFill>
                  <a:srgbClr val="00E676"/>
                </a:solidFill>
                <a:latin typeface="Space Grotesk"/>
              </a:rPr>
              <a:t>AI-ADAPTIVE TRAFFIC SIGNALS</a:t>
            </a:r>
          </a:p>
        </p:txBody>
      </p:sp>
      <p:sp>
        <p:nvSpPr>
          <p:cNvPr id="5" name="TextBox 4"/>
          <p:cNvSpPr txBox="1"/>
          <p:nvPr/>
        </p:nvSpPr>
        <p:spPr>
          <a:xfrm>
            <a:off x="640080" y="4480560"/>
            <a:ext cx="10881360" cy="731520"/>
          </a:xfrm>
          <a:prstGeom prst="rect">
            <a:avLst/>
          </a:prstGeom>
          <a:noFill/>
        </p:spPr>
        <p:txBody>
          <a:bodyPr wrap="square">
            <a:spAutoFit/>
          </a:bodyPr>
          <a:lstStyle/>
          <a:p>
            <a:pPr algn="ctr">
              <a:spcAft>
                <a:spcPts val="600"/>
              </a:spcAft>
            </a:pPr>
            <a:r>
              <a:rPr sz="1800" b="0">
                <a:solidFill>
                  <a:srgbClr val="93A1C0"/>
                </a:solidFill>
                <a:latin typeface="Inter"/>
              </a:rPr>
              <a:t>Green follows real demand.</a:t>
            </a:r>
          </a:p>
        </p:txBody>
      </p:sp>
      <p:sp>
        <p:nvSpPr>
          <p:cNvPr id="6" name="TextBox 5"/>
          <p:cNvSpPr txBox="1"/>
          <p:nvPr/>
        </p:nvSpPr>
        <p:spPr>
          <a:xfrm>
            <a:off x="640080" y="5394960"/>
            <a:ext cx="10881360" cy="914400"/>
          </a:xfrm>
          <a:prstGeom prst="rect">
            <a:avLst/>
          </a:prstGeom>
          <a:noFill/>
        </p:spPr>
        <p:txBody>
          <a:bodyPr wrap="square">
            <a:spAutoFit/>
          </a:bodyPr>
          <a:lstStyle/>
          <a:p>
            <a:pPr algn="ctr">
              <a:spcAft>
                <a:spcPts val="600"/>
              </a:spcAft>
            </a:pPr>
            <a:r>
              <a:rPr sz="1600" b="0">
                <a:solidFill>
                  <a:srgbClr val="EDF2F7"/>
                </a:solidFill>
                <a:latin typeface="Inter"/>
              </a:rPr>
              <a:t>Abdur Rehman  |  M. Bilal  |  Awais  |  Dawood</a:t>
            </a:r>
          </a:p>
          <a:p>
            <a:pPr algn="ctr">
              <a:spcAft>
                <a:spcPts val="600"/>
              </a:spcAft>
            </a:pPr>
            <a:r>
              <a:rPr sz="1400" b="0">
                <a:solidFill>
                  <a:srgbClr val="93A1C0"/>
                </a:solidFill>
                <a:latin typeface="Inter"/>
              </a:rPr>
              <a:t>Lahore Garrison University, B.S. Computer Science</a:t>
            </a:r>
          </a:p>
          <a:p>
            <a:pPr algn="ctr">
              <a:spcAft>
                <a:spcPts val="600"/>
              </a:spcAft>
            </a:pPr>
            <a:r>
              <a:rPr sz="1400" b="0">
                <a:solidFill>
                  <a:srgbClr val="93A1C0"/>
                </a:solidFill>
                <a:latin typeface="Inter"/>
              </a:rPr>
              <a:t>Garrison 4th International AI Championship - AI in Urban 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01  THE PROBLEM</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Lahore added 3.7 million vehicles
in a decade. Its signals never noticed.</a:t>
            </a:r>
          </a:p>
        </p:txBody>
      </p:sp>
      <p:sp>
        <p:nvSpPr>
          <p:cNvPr id="4" name="TextBox 3"/>
          <p:cNvSpPr txBox="1"/>
          <p:nvPr/>
        </p:nvSpPr>
        <p:spPr>
          <a:xfrm>
            <a:off x="640080" y="2377440"/>
            <a:ext cx="10881360" cy="4114800"/>
          </a:xfrm>
          <a:prstGeom prst="rect">
            <a:avLst/>
          </a:prstGeom>
          <a:noFill/>
        </p:spPr>
        <p:txBody>
          <a:bodyPr wrap="square">
            <a:spAutoFit/>
          </a:bodyPr>
          <a:lstStyle/>
          <a:p>
            <a:pPr algn="l">
              <a:spcAft>
                <a:spcPts val="600"/>
              </a:spcAft>
            </a:pPr>
            <a:r>
              <a:rPr sz="2000" b="0">
                <a:solidFill>
                  <a:srgbClr val="EDF2F7"/>
                </a:solidFill>
                <a:latin typeface="Inter"/>
              </a:rPr>
              <a:t>Registered vehicles in Lahore went from about 378,000 in 2014 to 4.1 million in 2024: an elevenfold rise (Excise and Taxation Department, Punjab). The average commute is now around 34.8 minutes (Numbeo 2026 Traffic Index, via Lahore Traffic Police). Congestion costs Lahore drivers up to PKR 1,136.88 per day each (Nawaz et al., SAGE Open, 2024).</a:t>
            </a:r>
          </a:p>
          <a:p>
            <a:pPr algn="l">
              <a:spcAft>
                <a:spcPts val="600"/>
              </a:spcAft>
            </a:pPr>
            <a:r>
              <a:rPr sz="2000" b="0">
                <a:solidFill>
                  <a:srgbClr val="93A1C0"/>
                </a:solidFill>
                <a:latin typeface="Inter"/>
              </a:rPr>
              <a:t>Every red light burns fuel, pumps CO2, and steals time from millions of people. The signals controlling it all run on fixed timers from another era.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02  WHY CURRENT SIGNALS FAIL</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timer cannot see.</a:t>
            </a:r>
          </a:p>
        </p:txBody>
      </p:sp>
      <p:sp>
        <p:nvSpPr>
          <p:cNvPr id="4" name="Rounded Rectangle 3"/>
          <p:cNvSpPr/>
          <p:nvPr/>
        </p:nvSpPr>
        <p:spPr>
          <a:xfrm>
            <a:off x="640080" y="2194560"/>
            <a:ext cx="3291840" cy="38404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2834640" cy="3291840"/>
          </a:xfrm>
          <a:prstGeom prst="rect">
            <a:avLst/>
          </a:prstGeom>
          <a:noFill/>
        </p:spPr>
        <p:txBody>
          <a:bodyPr wrap="square">
            <a:spAutoFit/>
          </a:bodyPr>
          <a:lstStyle/>
          <a:p>
            <a:pPr algn="l">
              <a:spcAft>
                <a:spcPts val="600"/>
              </a:spcAft>
            </a:pPr>
            <a:r>
              <a:rPr sz="1500" b="1">
                <a:solidFill>
                  <a:srgbClr val="F87171"/>
                </a:solidFill>
                <a:latin typeface="Space Grotesk"/>
              </a:rPr>
              <a:t>FIXED TIMER</a:t>
            </a:r>
          </a:p>
          <a:p>
            <a:pPr algn="l">
              <a:spcAft>
                <a:spcPts val="600"/>
              </a:spcAft>
            </a:pPr>
            <a:r>
              <a:rPr sz="1700" b="0">
                <a:solidFill>
                  <a:srgbClr val="EDF2F7"/>
                </a:solidFill>
                <a:latin typeface="Inter"/>
              </a:rPr>
              <a:t>25 seconds of green for every road, at 3 AM and at 6 PM. Empty road gets the same green as 20 waiting cars.</a:t>
            </a:r>
          </a:p>
        </p:txBody>
      </p:sp>
      <p:sp>
        <p:nvSpPr>
          <p:cNvPr id="6" name="Rounded Rectangle 5"/>
          <p:cNvSpPr/>
          <p:nvPr/>
        </p:nvSpPr>
        <p:spPr>
          <a:xfrm>
            <a:off x="4480560" y="2194560"/>
            <a:ext cx="3291840" cy="38404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60" y="2468880"/>
            <a:ext cx="2834640" cy="3291840"/>
          </a:xfrm>
          <a:prstGeom prst="rect">
            <a:avLst/>
          </a:prstGeom>
          <a:noFill/>
        </p:spPr>
        <p:txBody>
          <a:bodyPr wrap="square">
            <a:spAutoFit/>
          </a:bodyPr>
          <a:lstStyle/>
          <a:p>
            <a:pPr algn="l">
              <a:spcAft>
                <a:spcPts val="600"/>
              </a:spcAft>
            </a:pPr>
            <a:r>
              <a:rPr sz="1500" b="1">
                <a:solidFill>
                  <a:srgbClr val="FBBF24"/>
                </a:solidFill>
                <a:latin typeface="Space Grotesk"/>
              </a:rPr>
              <a:t>ACTUATED RULES</a:t>
            </a:r>
          </a:p>
          <a:p>
            <a:pPr algn="l">
              <a:spcAft>
                <a:spcPts val="600"/>
              </a:spcAft>
            </a:pPr>
            <a:r>
              <a:rPr sz="1700" b="0">
                <a:solidFill>
                  <a:srgbClr val="EDF2F7"/>
                </a:solidFill>
                <a:latin typeface="Inter"/>
              </a:rPr>
              <a:t>Simple if-then logic: if my queue is empty and someone waits, switch. It reacts. It never learns, never anticipates, never adapts to a school rush or a Friday surge.</a:t>
            </a:r>
          </a:p>
        </p:txBody>
      </p:sp>
      <p:sp>
        <p:nvSpPr>
          <p:cNvPr id="8" name="Rounded Rectangle 7"/>
          <p:cNvSpPr/>
          <p:nvPr/>
        </p:nvSpPr>
        <p:spPr>
          <a:xfrm>
            <a:off x="8321040" y="2194560"/>
            <a:ext cx="3200400" cy="3840480"/>
          </a:xfrm>
          <a:prstGeom prst="roundRect">
            <a:avLst/>
          </a:prstGeom>
          <a:solidFill>
            <a:srgbClr val="141D33"/>
          </a:solidFill>
          <a:ln w="12700">
            <a:solidFill>
              <a:srgbClr val="00E6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9640" y="2468880"/>
            <a:ext cx="2743200" cy="3291840"/>
          </a:xfrm>
          <a:prstGeom prst="rect">
            <a:avLst/>
          </a:prstGeom>
          <a:noFill/>
        </p:spPr>
        <p:txBody>
          <a:bodyPr wrap="square">
            <a:spAutoFit/>
          </a:bodyPr>
          <a:lstStyle/>
          <a:p>
            <a:pPr algn="l">
              <a:spcAft>
                <a:spcPts val="600"/>
              </a:spcAft>
            </a:pPr>
            <a:r>
              <a:rPr sz="1500" b="1">
                <a:solidFill>
                  <a:srgbClr val="00E676"/>
                </a:solidFill>
                <a:latin typeface="Space Grotesk"/>
              </a:rPr>
              <a:t>WHAT WE NEED</a:t>
            </a:r>
          </a:p>
          <a:p>
            <a:pPr algn="l">
              <a:spcAft>
                <a:spcPts val="600"/>
              </a:spcAft>
            </a:pPr>
            <a:r>
              <a:rPr sz="1700" b="0">
                <a:solidFill>
                  <a:srgbClr val="EDF2F7"/>
                </a:solidFill>
                <a:latin typeface="Inter"/>
              </a:rPr>
              <a:t>A signal that watches traffic, learns each intersection's rhythm, and gives green to the road that actually needs it. That is SABZ.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03  WHAT IS SABZ</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closed loop: see, think, check, act.</a:t>
            </a:r>
          </a:p>
        </p:txBody>
      </p:sp>
      <p:sp>
        <p:nvSpPr>
          <p:cNvPr id="4" name="Rounded Rectangle 3"/>
          <p:cNvSpPr/>
          <p:nvPr/>
        </p:nvSpPr>
        <p:spPr>
          <a:xfrm>
            <a:off x="6400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1. SEE
Cameras count cars per approach (120 m)</a:t>
            </a:r>
          </a:p>
        </p:txBody>
      </p:sp>
      <p:cxnSp>
        <p:nvCxnSpPr>
          <p:cNvPr id="5" name="Connector 4"/>
          <p:cNvCxnSpPr/>
          <p:nvPr/>
        </p:nvCxnSpPr>
        <p:spPr>
          <a:xfrm>
            <a:off x="28346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3832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2. THINK
DQN brain picks: hold or switch</a:t>
            </a:r>
          </a:p>
        </p:txBody>
      </p:sp>
      <p:cxnSp>
        <p:nvCxnSpPr>
          <p:cNvPr id="7" name="Connector 6"/>
          <p:cNvCxnSpPr/>
          <p:nvPr/>
        </p:nvCxnSpPr>
        <p:spPr>
          <a:xfrm>
            <a:off x="55778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126480" y="2743200"/>
            <a:ext cx="21945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3. CHECK
Safety veto: 70 m dilemma zone</a:t>
            </a:r>
          </a:p>
        </p:txBody>
      </p:sp>
      <p:cxnSp>
        <p:nvCxnSpPr>
          <p:cNvPr id="9" name="Connector 8"/>
          <p:cNvCxnSpPr/>
          <p:nvPr/>
        </p:nvCxnSpPr>
        <p:spPr>
          <a:xfrm>
            <a:off x="832104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869680" y="2743200"/>
            <a:ext cx="2651760" cy="164592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4. ACT
Signal switches or holds</a:t>
            </a:r>
          </a:p>
        </p:txBody>
      </p:sp>
      <p:sp>
        <p:nvSpPr>
          <p:cNvPr id="11" name="TextBox 10"/>
          <p:cNvSpPr txBox="1"/>
          <p:nvPr/>
        </p:nvSpPr>
        <p:spPr>
          <a:xfrm>
            <a:off x="640080" y="4937760"/>
            <a:ext cx="10881360" cy="1097280"/>
          </a:xfrm>
          <a:prstGeom prst="rect">
            <a:avLst/>
          </a:prstGeom>
          <a:noFill/>
        </p:spPr>
        <p:txBody>
          <a:bodyPr wrap="square">
            <a:spAutoFit/>
          </a:bodyPr>
          <a:lstStyle/>
          <a:p>
            <a:pPr algn="ctr">
              <a:spcAft>
                <a:spcPts val="600"/>
              </a:spcAft>
            </a:pPr>
            <a:r>
              <a:rPr sz="1800" b="0">
                <a:solidFill>
                  <a:srgbClr val="93A1C0"/>
                </a:solidFill>
                <a:latin typeface="Inter"/>
              </a:rPr>
              <a:t>The loop repeats every second. The brain is 5,506 parameters, decides in 0.02 ms on CPU, and the safety check sits outside the network where no training can touch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04  THE AI BRAIN</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A Deep Q-Network, written from scratch.</a:t>
            </a:r>
          </a:p>
        </p:txBody>
      </p:sp>
      <p:sp>
        <p:nvSpPr>
          <p:cNvPr id="4" name="Rounded Rectangle 3"/>
          <p:cNvSpPr/>
          <p:nvPr/>
        </p:nvSpPr>
        <p:spPr>
          <a:xfrm>
            <a:off x="640080" y="2560320"/>
            <a:ext cx="274320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STATE (18)
queues, approaching cars, phase, green time, location, starvation</a:t>
            </a:r>
          </a:p>
        </p:txBody>
      </p:sp>
      <p:cxnSp>
        <p:nvCxnSpPr>
          <p:cNvPr id="5" name="Connector 4"/>
          <p:cNvCxnSpPr/>
          <p:nvPr/>
        </p:nvCxnSpPr>
        <p:spPr>
          <a:xfrm>
            <a:off x="338328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931920" y="2560320"/>
            <a:ext cx="20116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64 ReLU</a:t>
            </a:r>
          </a:p>
        </p:txBody>
      </p:sp>
      <p:cxnSp>
        <p:nvCxnSpPr>
          <p:cNvPr id="7" name="Connector 6"/>
          <p:cNvCxnSpPr/>
          <p:nvPr/>
        </p:nvCxnSpPr>
        <p:spPr>
          <a:xfrm>
            <a:off x="594360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492240" y="2560320"/>
            <a:ext cx="20116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64 ReLU</a:t>
            </a:r>
          </a:p>
        </p:txBody>
      </p:sp>
      <p:cxnSp>
        <p:nvCxnSpPr>
          <p:cNvPr id="9" name="Connector 8"/>
          <p:cNvCxnSpPr/>
          <p:nvPr/>
        </p:nvCxnSpPr>
        <p:spPr>
          <a:xfrm>
            <a:off x="850392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52560" y="2560320"/>
            <a:ext cx="2468880" cy="201168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ACTION (2)
Q(hold) vs Q(switch)
pick the better one</a:t>
            </a:r>
          </a:p>
        </p:txBody>
      </p:sp>
      <p:sp>
        <p:nvSpPr>
          <p:cNvPr id="11" name="TextBox 10"/>
          <p:cNvSpPr txBox="1"/>
          <p:nvPr/>
        </p:nvSpPr>
        <p:spPr>
          <a:xfrm>
            <a:off x="640080" y="5029200"/>
            <a:ext cx="10881360" cy="1371600"/>
          </a:xfrm>
          <a:prstGeom prst="rect">
            <a:avLst/>
          </a:prstGeom>
          <a:noFill/>
        </p:spPr>
        <p:txBody>
          <a:bodyPr wrap="square">
            <a:spAutoFit/>
          </a:bodyPr>
          <a:lstStyle/>
          <a:p>
            <a:pPr algn="ctr">
              <a:spcAft>
                <a:spcPts val="600"/>
              </a:spcAft>
            </a:pPr>
            <a:r>
              <a:rPr sz="1800" b="0">
                <a:solidFill>
                  <a:srgbClr val="93A1C0"/>
                </a:solidFill>
                <a:latin typeface="Inter"/>
              </a:rPr>
              <a:t>Reward = negative total queue every second. Every car-second of waiting is felt, so the brain learns to minimize delay directly. Custom NumPy, Double DQN, prioritized replay. No PyTorch, no borrowed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05  SAFETY</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The brain proposes. Physics disposes.</a:t>
            </a:r>
          </a:p>
        </p:txBody>
      </p:sp>
      <p:sp>
        <p:nvSpPr>
          <p:cNvPr id="4" name="TextBox 3"/>
          <p:cNvSpPr txBox="1"/>
          <p:nvPr/>
        </p:nvSpPr>
        <p:spPr>
          <a:xfrm>
            <a:off x="640080" y="2194560"/>
            <a:ext cx="10881360" cy="4206240"/>
          </a:xfrm>
          <a:prstGeom prst="rect">
            <a:avLst/>
          </a:prstGeom>
          <a:noFill/>
        </p:spPr>
        <p:txBody>
          <a:bodyPr wrap="square">
            <a:spAutoFit/>
          </a:bodyPr>
          <a:lstStyle/>
          <a:p>
            <a:pPr algn="l">
              <a:spcAft>
                <a:spcPts val="600"/>
              </a:spcAft>
            </a:pPr>
            <a:r>
              <a:rPr sz="2000" b="1">
                <a:solidFill>
                  <a:srgbClr val="EDF2F7"/>
                </a:solidFill>
                <a:latin typeface="Inter"/>
              </a:rPr>
              <a:t>Hard rule, outside the neural network, unchangeable by training:</a:t>
            </a:r>
          </a:p>
          <a:p>
            <a:pPr algn="l">
              <a:spcAft>
                <a:spcPts val="600"/>
              </a:spcAft>
            </a:pPr>
            <a:r>
              <a:rPr sz="2000" b="0">
                <a:solidFill>
                  <a:srgbClr val="EDF2F7"/>
                </a:solidFill>
                <a:latin typeface="Inter"/>
              </a:rPr>
              <a:t>Every second, before any switch executes, the system scans the 70-metre dilemma zone on the green approaches. If any car is inside it, the switch is vetoed and green extends (up to 60 s max). Then 3 s yellow + 2 s all-red clearance.</a:t>
            </a:r>
          </a:p>
          <a:p>
            <a:pPr algn="l">
              <a:spcAft>
                <a:spcPts val="600"/>
              </a:spcAft>
            </a:pPr>
            <a:r>
              <a:rPr sz="2000" b="0">
                <a:solidFill>
                  <a:srgbClr val="00E676"/>
                </a:solidFill>
                <a:latin typeface="Inter"/>
              </a:rPr>
              <a:t>With safety on, executed violations are zero by construction, and every attempted unsafe switch is logged. The AI can never learn an unsafe cutoff, because the cutoff is not its decision to make.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06  REAL DATA, HONESTLY STATED</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Calibrated on real measurements.
Not oversold.</a:t>
            </a:r>
          </a:p>
        </p:txBody>
      </p:sp>
      <p:sp>
        <p:nvSpPr>
          <p:cNvPr id="4" name="TextBox 3"/>
          <p:cNvSpPr txBox="1"/>
          <p:nvPr/>
        </p:nvSpPr>
        <p:spPr>
          <a:xfrm>
            <a:off x="640080" y="2651760"/>
            <a:ext cx="10881360" cy="3657600"/>
          </a:xfrm>
          <a:prstGeom prst="rect">
            <a:avLst/>
          </a:prstGeom>
          <a:noFill/>
        </p:spPr>
        <p:txBody>
          <a:bodyPr wrap="square">
            <a:spAutoFit/>
          </a:bodyPr>
          <a:lstStyle/>
          <a:p>
            <a:pPr algn="l">
              <a:spcAft>
                <a:spcPts val="600"/>
              </a:spcAft>
            </a:pPr>
            <a:r>
              <a:rPr sz="1900" b="0">
                <a:solidFill>
                  <a:srgbClr val="EDF2F7"/>
                </a:solidFill>
                <a:latin typeface="Inter"/>
              </a:rPr>
              <a:t>NGSIM: 1,039,689 real vehicle records (3,209 vehicles, US-101). The simulator samples arrival gaps from the measured per-lane headway distribution, rescaled to each scenario's demand, so traffic has real burstiness instead of synthetic smoothness.</a:t>
            </a:r>
          </a:p>
          <a:p>
            <a:pPr algn="l">
              <a:spcAft>
                <a:spcPts val="600"/>
              </a:spcAft>
            </a:pPr>
            <a:r>
              <a:rPr sz="1900" b="0">
                <a:solidFill>
                  <a:srgbClr val="93A1C0"/>
                </a:solidFill>
                <a:latin typeface="Inter"/>
              </a:rPr>
              <a:t>What it is: calibration data for arrival realism. What it is not: raw-trajectory training data, and not Lahore data. The camera pipeline is proven on real footage with YOLOv8 detection. The Lahore pilot is how real local data enters the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07  RESULTS</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Benchmarked against the best hand-tuned controller.</a:t>
            </a:r>
          </a:p>
        </p:txBody>
      </p:sp>
      <p:sp>
        <p:nvSpPr>
          <p:cNvPr id="4" name="TextBox 3"/>
          <p:cNvSpPr txBox="1"/>
          <p:nvPr/>
        </p:nvSpPr>
        <p:spPr>
          <a:xfrm>
            <a:off x="640080" y="2286000"/>
            <a:ext cx="10881360" cy="548640"/>
          </a:xfrm>
          <a:prstGeom prst="rect">
            <a:avLst/>
          </a:prstGeom>
          <a:noFill/>
        </p:spPr>
        <p:txBody>
          <a:bodyPr wrap="square">
            <a:spAutoFit/>
          </a:bodyPr>
          <a:lstStyle/>
          <a:p>
            <a:pPr algn="l">
              <a:spcAft>
                <a:spcPts val="600"/>
              </a:spcAft>
            </a:pPr>
            <a:r>
              <a:rPr sz="1700" b="0">
                <a:solidFill>
                  <a:srgbClr val="93A1C0"/>
                </a:solidFill>
                <a:latin typeface="Inter"/>
              </a:rPr>
              <a:t>3 scenarios x 3 seeds x 3,600 sim-seconds, safety on. Average delay per vehicle:</a:t>
            </a:r>
          </a:p>
        </p:txBody>
      </p:sp>
      <p:graphicFrame>
        <p:nvGraphicFramePr>
          <p:cNvPr id="5" name="Table 4"/>
          <p:cNvGraphicFramePr>
            <a:graphicFrameLocks noGrp="1"/>
          </p:cNvGraphicFramePr>
          <p:nvPr/>
        </p:nvGraphicFramePr>
        <p:xfrm>
          <a:off x="640080" y="2926080"/>
          <a:ext cx="10881360" cy="2194560"/>
        </p:xfrm>
        <a:graphic>
          <a:graphicData uri="http://schemas.openxmlformats.org/drawingml/2006/table">
            <a:tbl>
              <a:tblPr firstRow="1" bandRow="1">
                <a:tableStyleId>{5C22544A-7EE6-4342-B048-85BDC9FD1C3A}</a:tableStyleId>
              </a:tblPr>
              <a:tblGrid>
                <a:gridCol w="2720340"/>
                <a:gridCol w="2720340"/>
                <a:gridCol w="2720340"/>
                <a:gridCol w="2720340"/>
              </a:tblGrid>
              <a:tr h="548640">
                <a:tc>
                  <a:txBody>
                    <a:bodyPr/>
                    <a:lstStyle/>
                    <a:p>
                      <a:r>
                        <a:rPr sz="1600" b="1">
                          <a:solidFill>
                            <a:srgbClr val="00E676"/>
                          </a:solidFill>
                          <a:latin typeface="Space Grotesk"/>
                        </a:rPr>
                        <a:t>Scenario</a:t>
                      </a:r>
                    </a:p>
                  </a:txBody>
                  <a:tcPr>
                    <a:solidFill>
                      <a:srgbClr val="0B1220"/>
                    </a:solidFill>
                  </a:tcPr>
                </a:tc>
                <a:tc>
                  <a:txBody>
                    <a:bodyPr/>
                    <a:lstStyle/>
                    <a:p>
                      <a:r>
                        <a:rPr sz="1600" b="1">
                          <a:solidFill>
                            <a:srgbClr val="00E676"/>
                          </a:solidFill>
                          <a:latin typeface="Space Grotesk"/>
                        </a:rPr>
                        <a:t>Actuated</a:t>
                      </a:r>
                    </a:p>
                  </a:txBody>
                  <a:tcPr>
                    <a:solidFill>
                      <a:srgbClr val="0B1220"/>
                    </a:solidFill>
                  </a:tcPr>
                </a:tc>
                <a:tc>
                  <a:txBody>
                    <a:bodyPr/>
                    <a:lstStyle/>
                    <a:p>
                      <a:r>
                        <a:rPr sz="1600" b="1">
                          <a:solidFill>
                            <a:srgbClr val="00E676"/>
                          </a:solidFill>
                          <a:latin typeface="Space Grotesk"/>
                        </a:rPr>
                        <a:t>SABZ DQN</a:t>
                      </a:r>
                    </a:p>
                  </a:txBody>
                  <a:tcPr>
                    <a:solidFill>
                      <a:srgbClr val="0B1220"/>
                    </a:solidFill>
                  </a:tcPr>
                </a:tc>
                <a:tc>
                  <a:txBody>
                    <a:bodyPr/>
                    <a:lstStyle/>
                    <a:p>
                      <a:r>
                        <a:rPr sz="1600" b="1">
                          <a:solidFill>
                            <a:srgbClr val="00E676"/>
                          </a:solidFill>
                          <a:latin typeface="Space Grotesk"/>
                        </a:rPr>
                        <a:t>Result</a:t>
                      </a:r>
                    </a:p>
                  </a:txBody>
                  <a:tcPr>
                    <a:solidFill>
                      <a:srgbClr val="0B1220"/>
                    </a:solidFill>
                  </a:tcPr>
                </a:tc>
              </a:tr>
              <a:tr h="548640">
                <a:tc>
                  <a:txBody>
                    <a:bodyPr/>
                    <a:lstStyle/>
                    <a:p>
                      <a:r>
                        <a:rPr sz="1800">
                          <a:solidFill>
                            <a:srgbClr val="EDF2F7"/>
                          </a:solidFill>
                          <a:latin typeface="Inter"/>
                        </a:rPr>
                        <a:t>Asymmetric</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b="1">
                          <a:solidFill>
                            <a:srgbClr val="00E676"/>
                          </a:solidFill>
                          <a:latin typeface="Inter"/>
                        </a:rPr>
                        <a:t>WIN</a:t>
                      </a:r>
                    </a:p>
                  </a:txBody>
                  <a:tcPr>
                    <a:solidFill>
                      <a:srgbClr val="141D33"/>
                    </a:solidFill>
                  </a:tcPr>
                </a:tc>
              </a:tr>
              <a:tr h="548640">
                <a:tc>
                  <a:txBody>
                    <a:bodyPr/>
                    <a:lstStyle/>
                    <a:p>
                      <a:r>
                        <a:rPr sz="1800">
                          <a:solidFill>
                            <a:srgbClr val="EDF2F7"/>
                          </a:solidFill>
                          <a:latin typeface="Inter"/>
                        </a:rPr>
                        <a:t>Balanced</a:t>
                      </a:r>
                    </a:p>
                  </a:txBody>
                  <a:tcPr>
                    <a:solidFill>
                      <a:srgbClr val="141D33"/>
                    </a:solidFill>
                  </a:tcPr>
                </a:tc>
                <a:tc>
                  <a:txBody>
                    <a:bodyPr/>
                    <a:lstStyle/>
                    <a:p>
                      <a:r>
                        <a:rPr sz="1800">
                          <a:solidFill>
                            <a:srgbClr val="EDF2F7"/>
                          </a:solidFill>
                          <a:latin typeface="Inter"/>
                        </a:rPr>
                        <a:t>11.9 s</a:t>
                      </a:r>
                    </a:p>
                  </a:txBody>
                  <a:tcPr>
                    <a:solidFill>
                      <a:srgbClr val="141D33"/>
                    </a:solidFill>
                  </a:tcPr>
                </a:tc>
                <a:tc>
                  <a:txBody>
                    <a:bodyPr/>
                    <a:lstStyle/>
                    <a:p>
                      <a:r>
                        <a:rPr sz="1800">
                          <a:solidFill>
                            <a:srgbClr val="EDF2F7"/>
                          </a:solidFill>
                          <a:latin typeface="Inter"/>
                        </a:rPr>
                        <a:t>11.9 s</a:t>
                      </a:r>
                    </a:p>
                  </a:txBody>
                  <a:tcPr>
                    <a:solidFill>
                      <a:srgbClr val="141D33"/>
                    </a:solidFill>
                  </a:tcPr>
                </a:tc>
                <a:tc>
                  <a:txBody>
                    <a:bodyPr/>
                    <a:lstStyle/>
                    <a:p>
                      <a:r>
                        <a:rPr sz="1800" b="1">
                          <a:solidFill>
                            <a:srgbClr val="FBBF24"/>
                          </a:solidFill>
                          <a:latin typeface="Inter"/>
                        </a:rPr>
                        <a:t>TIE (scored as loss)</a:t>
                      </a:r>
                    </a:p>
                  </a:txBody>
                  <a:tcPr>
                    <a:solidFill>
                      <a:srgbClr val="141D33"/>
                    </a:solidFill>
                  </a:tcPr>
                </a:tc>
              </a:tr>
              <a:tr h="548640">
                <a:tc>
                  <a:txBody>
                    <a:bodyPr/>
                    <a:lstStyle/>
                    <a:p>
                      <a:r>
                        <a:rPr sz="1800">
                          <a:solidFill>
                            <a:srgbClr val="EDF2F7"/>
                          </a:solidFill>
                          <a:latin typeface="Inter"/>
                        </a:rPr>
                        <a:t>School zone</a:t>
                      </a:r>
                    </a:p>
                  </a:txBody>
                  <a:tcPr>
                    <a:solidFill>
                      <a:srgbClr val="141D33"/>
                    </a:solidFill>
                  </a:tcPr>
                </a:tc>
                <a:tc>
                  <a:txBody>
                    <a:bodyPr/>
                    <a:lstStyle/>
                    <a:p>
                      <a:r>
                        <a:rPr sz="1800">
                          <a:solidFill>
                            <a:srgbClr val="EDF2F7"/>
                          </a:solidFill>
                          <a:latin typeface="Inter"/>
                        </a:rPr>
                        <a:t>5.3 s</a:t>
                      </a:r>
                    </a:p>
                  </a:txBody>
                  <a:tcPr>
                    <a:solidFill>
                      <a:srgbClr val="141D33"/>
                    </a:solidFill>
                  </a:tcPr>
                </a:tc>
                <a:tc>
                  <a:txBody>
                    <a:bodyPr/>
                    <a:lstStyle/>
                    <a:p>
                      <a:r>
                        <a:rPr sz="1800">
                          <a:solidFill>
                            <a:srgbClr val="EDF2F7"/>
                          </a:solidFill>
                          <a:latin typeface="Inter"/>
                        </a:rPr>
                        <a:t>5.0 s</a:t>
                      </a:r>
                    </a:p>
                  </a:txBody>
                  <a:tcPr>
                    <a:solidFill>
                      <a:srgbClr val="141D33"/>
                    </a:solidFill>
                  </a:tcPr>
                </a:tc>
                <a:tc>
                  <a:txBody>
                    <a:bodyPr/>
                    <a:lstStyle/>
                    <a:p>
                      <a:r>
                        <a:rPr sz="1800" b="1">
                          <a:solidFill>
                            <a:srgbClr val="00E676"/>
                          </a:solidFill>
                          <a:latin typeface="Inter"/>
                        </a:rPr>
                        <a:t>WIN</a:t>
                      </a:r>
                    </a:p>
                  </a:txBody>
                  <a:tcPr>
                    <a:solidFill>
                      <a:srgbClr val="141D33"/>
                    </a:solidFill>
                  </a:tcPr>
                </a:tc>
              </a:tr>
            </a:tbl>
          </a:graphicData>
        </a:graphic>
      </p:graphicFrame>
      <p:sp>
        <p:nvSpPr>
          <p:cNvPr id="6" name="TextBox 5"/>
          <p:cNvSpPr txBox="1"/>
          <p:nvPr/>
        </p:nvSpPr>
        <p:spPr>
          <a:xfrm>
            <a:off x="640080" y="5486400"/>
            <a:ext cx="10881360" cy="914400"/>
          </a:xfrm>
          <a:prstGeom prst="rect">
            <a:avLst/>
          </a:prstGeom>
          <a:noFill/>
        </p:spPr>
        <p:txBody>
          <a:bodyPr wrap="square">
            <a:spAutoFit/>
          </a:bodyPr>
          <a:lstStyle/>
          <a:p>
            <a:pPr algn="ctr">
              <a:spcAft>
                <a:spcPts val="600"/>
              </a:spcAft>
            </a:pPr>
            <a:r>
              <a:rPr sz="1700" b="0">
                <a:solidFill>
                  <a:srgbClr val="93A1C0"/>
                </a:solidFill>
                <a:latin typeface="Inter"/>
              </a:rPr>
              <a:t>Best mean benchmark delay: 7.3 s. The balanced tie is disclosed, not hidden: training continues specifically to break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2377440"/>
            <a:ext cx="10881360" cy="1280160"/>
          </a:xfrm>
          <a:prstGeom prst="rect">
            <a:avLst/>
          </a:prstGeom>
          <a:noFill/>
        </p:spPr>
        <p:txBody>
          <a:bodyPr wrap="square">
            <a:spAutoFit/>
          </a:bodyPr>
          <a:lstStyle/>
          <a:p>
            <a:pPr algn="ctr">
              <a:spcAft>
                <a:spcPts val="600"/>
              </a:spcAft>
            </a:pPr>
            <a:r>
              <a:rPr sz="4400" b="1">
                <a:solidFill>
                  <a:srgbClr val="EDF2F7"/>
                </a:solidFill>
                <a:latin typeface="Space Grotesk"/>
              </a:rPr>
              <a:t>Enough slides.</a:t>
            </a:r>
          </a:p>
        </p:txBody>
      </p:sp>
      <p:sp>
        <p:nvSpPr>
          <p:cNvPr id="3" name="TextBox 2"/>
          <p:cNvSpPr txBox="1"/>
          <p:nvPr/>
        </p:nvSpPr>
        <p:spPr>
          <a:xfrm>
            <a:off x="640080" y="3566160"/>
            <a:ext cx="10881360" cy="1097280"/>
          </a:xfrm>
          <a:prstGeom prst="rect">
            <a:avLst/>
          </a:prstGeom>
          <a:noFill/>
        </p:spPr>
        <p:txBody>
          <a:bodyPr wrap="square">
            <a:spAutoFit/>
          </a:bodyPr>
          <a:lstStyle/>
          <a:p>
            <a:pPr algn="ctr">
              <a:spcAft>
                <a:spcPts val="600"/>
              </a:spcAft>
            </a:pPr>
            <a:r>
              <a:rPr sz="4400" b="1">
                <a:solidFill>
                  <a:srgbClr val="00E676"/>
                </a:solidFill>
                <a:latin typeface="Space Grotesk"/>
              </a:rPr>
              <a:t>Watch it think.</a:t>
            </a:r>
          </a:p>
        </p:txBody>
      </p:sp>
      <p:sp>
        <p:nvSpPr>
          <p:cNvPr id="4" name="TextBox 3"/>
          <p:cNvSpPr txBox="1"/>
          <p:nvPr/>
        </p:nvSpPr>
        <p:spPr>
          <a:xfrm>
            <a:off x="640080" y="4846320"/>
            <a:ext cx="10881360" cy="731520"/>
          </a:xfrm>
          <a:prstGeom prst="rect">
            <a:avLst/>
          </a:prstGeom>
          <a:noFill/>
        </p:spPr>
        <p:txBody>
          <a:bodyPr wrap="square">
            <a:spAutoFit/>
          </a:bodyPr>
          <a:lstStyle/>
          <a:p>
            <a:pPr algn="ctr">
              <a:spcAft>
                <a:spcPts val="600"/>
              </a:spcAft>
            </a:pPr>
            <a:r>
              <a:rPr sz="2000" b="0">
                <a:solidFill>
                  <a:srgbClr val="93A1C0"/>
                </a:solidFill>
                <a:latin typeface="Inter"/>
              </a:rPr>
              <a:t>[ SWITCH TO LIVE DEMO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08  DEPLOYMENT VISION</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One intersection in Lahore. Then every corridor.</a:t>
            </a:r>
          </a:p>
        </p:txBody>
      </p:sp>
      <p:sp>
        <p:nvSpPr>
          <p:cNvPr id="4" name="Rounded Rectangle 3"/>
          <p:cNvSpPr/>
          <p:nvPr/>
        </p:nvSpPr>
        <p:spPr>
          <a:xfrm>
            <a:off x="640080" y="2651760"/>
            <a:ext cx="320040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1: SHADOW
Brain decides, existing controller executes. Decisions logged.</a:t>
            </a:r>
          </a:p>
        </p:txBody>
      </p:sp>
      <p:cxnSp>
        <p:nvCxnSpPr>
          <p:cNvPr id="5" name="Connector 4"/>
          <p:cNvCxnSpPr/>
          <p:nvPr/>
        </p:nvCxnSpPr>
        <p:spPr>
          <a:xfrm>
            <a:off x="384048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89120" y="2651760"/>
            <a:ext cx="320040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2: SUPERVISED
Live control with instant fallback to actuated/fixed.</a:t>
            </a:r>
          </a:p>
        </p:txBody>
      </p:sp>
      <p:cxnSp>
        <p:nvCxnSpPr>
          <p:cNvPr id="7" name="Connector 6"/>
          <p:cNvCxnSpPr/>
          <p:nvPr/>
        </p:nvCxnSpPr>
        <p:spPr>
          <a:xfrm>
            <a:off x="7589520" y="3566160"/>
            <a:ext cx="548640" cy="0"/>
          </a:xfrm>
          <a:prstGeom prst="line">
            <a:avLst/>
          </a:prstGeom>
          <a:ln w="31750">
            <a:solidFill>
              <a:srgbClr val="00E676"/>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138160" y="2651760"/>
            <a:ext cx="3383280" cy="1828800"/>
          </a:xfrm>
          <a:prstGeom prst="roundRect">
            <a:avLst/>
          </a:prstGeom>
          <a:solidFill>
            <a:srgbClr val="141D33"/>
          </a:solidFill>
          <a:ln w="12700">
            <a:solidFill>
              <a:srgbClr val="24304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EDF2F7"/>
                </a:solidFill>
                <a:latin typeface="Inter"/>
              </a:rPr>
              <a:t>PHASE 3: AUTONOMOUS
Full control, monitored, city can override anytime.</a:t>
            </a:r>
          </a:p>
        </p:txBody>
      </p:sp>
      <p:sp>
        <p:nvSpPr>
          <p:cNvPr id="9" name="TextBox 8"/>
          <p:cNvSpPr txBox="1"/>
          <p:nvPr/>
        </p:nvSpPr>
        <p:spPr>
          <a:xfrm>
            <a:off x="640080" y="4937760"/>
            <a:ext cx="10881360" cy="1097280"/>
          </a:xfrm>
          <a:prstGeom prst="rect">
            <a:avLst/>
          </a:prstGeom>
          <a:noFill/>
        </p:spPr>
        <p:txBody>
          <a:bodyPr wrap="square">
            <a:spAutoFit/>
          </a:bodyPr>
          <a:lstStyle/>
          <a:p>
            <a:pPr algn="ctr">
              <a:spcAft>
                <a:spcPts val="600"/>
              </a:spcAft>
            </a:pPr>
            <a:r>
              <a:rPr sz="1800" b="0">
                <a:solidFill>
                  <a:srgbClr val="93A1C0"/>
                </a:solidFill>
                <a:latin typeface="Inter"/>
              </a:rPr>
              <a:t>Cameras on existing poles. One small computer in the signal cabinet. No road digging, no GPU, no cloud dependency.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TextBox 1"/>
          <p:cNvSpPr txBox="1"/>
          <p:nvPr/>
        </p:nvSpPr>
        <p:spPr>
          <a:xfrm>
            <a:off x="640080" y="320040"/>
            <a:ext cx="10881360" cy="457200"/>
          </a:xfrm>
          <a:prstGeom prst="rect">
            <a:avLst/>
          </a:prstGeom>
          <a:noFill/>
        </p:spPr>
        <p:txBody>
          <a:bodyPr wrap="square">
            <a:spAutoFit/>
          </a:bodyPr>
          <a:lstStyle/>
          <a:p>
            <a:pPr algn="l">
              <a:spcAft>
                <a:spcPts val="600"/>
              </a:spcAft>
            </a:pPr>
            <a:r>
              <a:rPr sz="1300" b="1">
                <a:solidFill>
                  <a:srgbClr val="00E676"/>
                </a:solidFill>
                <a:latin typeface="Space Grotesk"/>
              </a:rPr>
              <a:t>09  BUSINESS MODEL</a:t>
            </a:r>
          </a:p>
        </p:txBody>
      </p:sp>
      <p:sp>
        <p:nvSpPr>
          <p:cNvPr id="3" name="TextBox 2"/>
          <p:cNvSpPr txBox="1"/>
          <p:nvPr/>
        </p:nvSpPr>
        <p:spPr>
          <a:xfrm>
            <a:off x="640080" y="685800"/>
            <a:ext cx="10881360" cy="1463040"/>
          </a:xfrm>
          <a:prstGeom prst="rect">
            <a:avLst/>
          </a:prstGeom>
          <a:noFill/>
        </p:spPr>
        <p:txBody>
          <a:bodyPr wrap="square">
            <a:spAutoFit/>
          </a:bodyPr>
          <a:lstStyle/>
          <a:p>
            <a:pPr algn="l">
              <a:spcAft>
                <a:spcPts val="600"/>
              </a:spcAft>
            </a:pPr>
            <a:r>
              <a:rPr sz="4000" b="1">
                <a:solidFill>
                  <a:srgbClr val="EDF2F7"/>
                </a:solidFill>
                <a:latin typeface="Space Grotesk"/>
              </a:rPr>
              <a:t>Land one pilot. Prove it. Scale corridor by corridor.</a:t>
            </a:r>
          </a:p>
        </p:txBody>
      </p:sp>
      <p:sp>
        <p:nvSpPr>
          <p:cNvPr id="4" name="TextBox 3"/>
          <p:cNvSpPr txBox="1"/>
          <p:nvPr/>
        </p:nvSpPr>
        <p:spPr>
          <a:xfrm>
            <a:off x="640080" y="2377440"/>
            <a:ext cx="10881360" cy="3657600"/>
          </a:xfrm>
          <a:prstGeom prst="rect">
            <a:avLst/>
          </a:prstGeom>
          <a:noFill/>
        </p:spPr>
        <p:txBody>
          <a:bodyPr wrap="square">
            <a:spAutoFit/>
          </a:bodyPr>
          <a:lstStyle/>
          <a:p>
            <a:pPr algn="l">
              <a:spcAft>
                <a:spcPts val="600"/>
              </a:spcAft>
            </a:pPr>
            <a:r>
              <a:rPr sz="2000" b="0">
                <a:solidFill>
                  <a:srgbClr val="EDF2F7"/>
                </a:solidFill>
                <a:latin typeface="Inter"/>
              </a:rPr>
              <a:t>Customer: the city traffic authority, the same body that already buys signals. Private campuses and housing societies are a faster first door.</a:t>
            </a:r>
          </a:p>
          <a:p>
            <a:pPr algn="l">
              <a:spcAft>
                <a:spcPts val="600"/>
              </a:spcAft>
            </a:pPr>
            <a:r>
              <a:rPr sz="2000" b="0">
                <a:solidFill>
                  <a:srgbClr val="EDF2F7"/>
                </a:solidFill>
                <a:latin typeface="Inter"/>
              </a:rPr>
              <a:t>Model: per-intersection hardware plus software license, or a managed-service fee per corridor per year. Long term: performance contracts where the city pays against measured congestion reduction.</a:t>
            </a:r>
          </a:p>
          <a:p>
            <a:pPr algn="l">
              <a:spcAft>
                <a:spcPts val="600"/>
              </a:spcAft>
            </a:pPr>
            <a:r>
              <a:rPr sz="2000" b="0">
                <a:solidFill>
                  <a:srgbClr val="00E676"/>
                </a:solidFill>
                <a:latin typeface="Inter"/>
              </a:rPr>
              <a:t>Moat: the trained policy library per intersection type, the calibration process, and the first real deployment data from Pakistani intersections.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914400"/>
            <a:ext cx="1371600" cy="487680"/>
          </a:xfrm>
          <a:prstGeom prst="rect">
            <a:avLst/>
          </a:prstGeom>
        </p:spPr>
      </p:pic>
      <p:sp>
        <p:nvSpPr>
          <p:cNvPr id="3" name="TextBox 2"/>
          <p:cNvSpPr txBox="1"/>
          <p:nvPr/>
        </p:nvSpPr>
        <p:spPr>
          <a:xfrm>
            <a:off x="640080" y="2468880"/>
            <a:ext cx="10881360" cy="1097280"/>
          </a:xfrm>
          <a:prstGeom prst="rect">
            <a:avLst/>
          </a:prstGeom>
          <a:noFill/>
        </p:spPr>
        <p:txBody>
          <a:bodyPr wrap="square">
            <a:spAutoFit/>
          </a:bodyPr>
          <a:lstStyle/>
          <a:p>
            <a:pPr algn="ctr">
              <a:spcAft>
                <a:spcPts val="600"/>
              </a:spcAft>
            </a:pPr>
            <a:r>
              <a:rPr sz="5400" b="1">
                <a:solidFill>
                  <a:srgbClr val="EDF2F7"/>
                </a:solidFill>
                <a:latin typeface="Space Grotesk"/>
              </a:rPr>
              <a:t>Thank you.</a:t>
            </a:r>
          </a:p>
        </p:txBody>
      </p:sp>
      <p:sp>
        <p:nvSpPr>
          <p:cNvPr id="4" name="TextBox 3"/>
          <p:cNvSpPr txBox="1"/>
          <p:nvPr/>
        </p:nvSpPr>
        <p:spPr>
          <a:xfrm>
            <a:off x="640080" y="3566160"/>
            <a:ext cx="10881360" cy="1280160"/>
          </a:xfrm>
          <a:prstGeom prst="rect">
            <a:avLst/>
          </a:prstGeom>
          <a:noFill/>
        </p:spPr>
        <p:txBody>
          <a:bodyPr wrap="square">
            <a:spAutoFit/>
          </a:bodyPr>
          <a:lstStyle/>
          <a:p>
            <a:pPr algn="ctr">
              <a:spcAft>
                <a:spcPts val="600"/>
              </a:spcAft>
            </a:pPr>
            <a:r>
              <a:rPr sz="2000" b="0">
                <a:solidFill>
                  <a:srgbClr val="00E676"/>
                </a:solidFill>
                <a:latin typeface="Inter"/>
              </a:rPr>
              <a:t>Abdur Rehman  |  M. Bilal  |  Awais  |  Dawood</a:t>
            </a:r>
          </a:p>
          <a:p>
            <a:pPr algn="ctr">
              <a:spcAft>
                <a:spcPts val="600"/>
              </a:spcAft>
            </a:pPr>
            <a:r>
              <a:rPr sz="1600" b="0">
                <a:solidFill>
                  <a:srgbClr val="93A1C0"/>
                </a:solidFill>
                <a:latin typeface="Inter"/>
              </a:rPr>
              <a:t>Lahore Garrison University</a:t>
            </a:r>
          </a:p>
          <a:p>
            <a:pPr algn="ctr">
              <a:spcAft>
                <a:spcPts val="600"/>
              </a:spcAft>
            </a:pPr>
            <a:r>
              <a:rPr sz="1800" b="0">
                <a:solidFill>
                  <a:srgbClr val="EDF2F7"/>
                </a:solidFill>
                <a:latin typeface="Space Grotesk"/>
              </a:rPr>
              <a:t>The people who sit in the traffic should be the people who build the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