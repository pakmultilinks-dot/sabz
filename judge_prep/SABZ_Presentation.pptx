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"/>
            <a:ext cx="1874519" cy="6664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0700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0E676"/>
                </a:solidFill>
                <a:latin typeface="Space Grotesk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36192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EDF2F7"/>
                </a:solidFill>
                <a:latin typeface="Space Grotesk"/>
              </a:rPr>
              <a:t>Traffic lights that cannot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6903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00E676"/>
                </a:solidFill>
                <a:latin typeface="Inter"/>
              </a:rPr>
              <a:t>•  </a:t>
            </a:r>
            <a:r>
              <a:rPr sz="1550" b="0">
                <a:solidFill>
                  <a:srgbClr val="EDF2F7"/>
                </a:solidFill>
                <a:latin typeface="Inter"/>
              </a:rPr>
              <a:t>Lahore moves 4.1 million vehicles through signals that follow a clock, not the traffic.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01568"/>
            <a:ext cx="6903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00E676"/>
                </a:solidFill>
                <a:latin typeface="Inter"/>
              </a:rPr>
              <a:t>•  </a:t>
            </a:r>
            <a:r>
              <a:rPr sz="1550" b="0">
                <a:solidFill>
                  <a:srgbClr val="EDF2F7"/>
                </a:solidFill>
                <a:latin typeface="Inter"/>
              </a:rPr>
              <a:t>The average commute takes 34.8 minutes, much of it spent idling at red lights.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97096"/>
            <a:ext cx="6903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00E676"/>
                </a:solidFill>
                <a:latin typeface="Inter"/>
              </a:rPr>
              <a:t>•  </a:t>
            </a:r>
            <a:r>
              <a:rPr sz="1550" b="0">
                <a:solidFill>
                  <a:srgbClr val="EDF2F7"/>
                </a:solidFill>
                <a:latin typeface="Inter"/>
              </a:rPr>
              <a:t>Fixed timers run blind cycles: an empty road can hold green while a long queue burns time and fuel on the cross street.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138928"/>
            <a:ext cx="6903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00E676"/>
                </a:solidFill>
                <a:latin typeface="Inter"/>
              </a:rPr>
              <a:t>•  </a:t>
            </a:r>
            <a:r>
              <a:rPr sz="1550" b="0">
                <a:solidFill>
                  <a:srgbClr val="EDF2F7"/>
                </a:solidFill>
                <a:latin typeface="Inter"/>
              </a:rPr>
              <a:t>The signal never sees which road actually needs the green.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560320"/>
            <a:ext cx="3913632" cy="3127248"/>
          </a:xfrm>
          <a:prstGeom prst="roundRect">
            <a:avLst>
              <a:gd name="adj" fmla="val 5500"/>
            </a:avLst>
          </a:prstGeom>
          <a:solidFill>
            <a:srgbClr val="141D33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27432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00E676"/>
                </a:solidFill>
                <a:latin typeface="Space Grotesk"/>
              </a:rPr>
              <a:t>THE BLIND 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3182112"/>
            <a:ext cx="1627632" cy="566928"/>
          </a:xfrm>
          <a:prstGeom prst="roundRect">
            <a:avLst>
              <a:gd name="adj" fmla="val 5500"/>
            </a:avLst>
          </a:prstGeom>
          <a:solidFill>
            <a:srgbClr val="10281C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3310128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EDF2F7"/>
                </a:solidFill>
                <a:latin typeface="Space Grotesk"/>
              </a:rPr>
              <a:t>NS GREEN · 30s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3182112"/>
            <a:ext cx="1627632" cy="566928"/>
          </a:xfrm>
          <a:prstGeom prst="roundRect">
            <a:avLst>
              <a:gd name="adj" fmla="val 5500"/>
            </a:avLst>
          </a:prstGeom>
          <a:solidFill>
            <a:srgbClr val="141D33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02368" y="3310128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EDF2F7"/>
                </a:solidFill>
                <a:latin typeface="Space Grotesk"/>
              </a:rPr>
              <a:t>EW GREEN · 30s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3931920"/>
            <a:ext cx="34015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3A1C0"/>
                </a:solidFill>
                <a:latin typeface="Inter"/>
              </a:rPr>
              <a:t>Then repeat. The same split at rush hour and at 3 AM, whatever the road looks like.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1" y="4681728"/>
            <a:ext cx="3401568" cy="18288"/>
          </a:xfrm>
          <a:prstGeom prst="rect">
            <a:avLst/>
          </a:prstGeom>
          <a:solidFill>
            <a:srgbClr val="2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482803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00E676"/>
                </a:solidFill>
                <a:latin typeface="Space Grotesk"/>
              </a:rPr>
              <a:t>4.1M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828032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00E676"/>
                </a:solidFill>
                <a:latin typeface="Space Grotesk"/>
              </a:rPr>
              <a:t>34.8</a:t>
            </a:r>
            <a:r>
              <a:rPr sz="1200" b="0">
                <a:solidFill>
                  <a:srgbClr val="93A1C0"/>
                </a:solidFill>
                <a:latin typeface="Inter"/>
              </a:rPr>
              <a:t>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53583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93A1C0"/>
                </a:solidFill>
                <a:latin typeface="Inter"/>
              </a:rPr>
              <a:t>vehicles in Lahore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535838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93A1C0"/>
                </a:solidFill>
                <a:latin typeface="Inter"/>
              </a:rPr>
              <a:t>average commute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0E676"/>
                </a:solidFill>
                <a:latin typeface="Inter"/>
              </a:rPr>
              <a:t>Result: </a:t>
            </a:r>
            <a:r>
              <a:rPr sz="1500" b="0">
                <a:solidFill>
                  <a:srgbClr val="EDF2F7"/>
                </a:solidFill>
                <a:latin typeface="Inter"/>
              </a:rPr>
              <a:t>green time is wasted where nobody is waiting, and missing where queues are longest.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93A1C0"/>
                </a:solidFill>
                <a:latin typeface="Inter"/>
              </a:rPr>
              <a:t>SABZ · AI-ADAPTIVE TRAFFIC 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28816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>
                <a:solidFill>
                  <a:srgbClr val="93A1C0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"/>
            <a:ext cx="1874519" cy="6664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0700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0E676"/>
                </a:solidFill>
                <a:latin typeface="Space Grotesk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36192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>
                <a:solidFill>
                  <a:srgbClr val="EDF2F7"/>
                </a:solidFill>
                <a:latin typeface="Space Grotesk"/>
              </a:rPr>
              <a:t>SABZ: signals that see, think, and adapt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95728"/>
            <a:ext cx="3630168" cy="1828800"/>
          </a:xfrm>
          <a:prstGeom prst="roundRect">
            <a:avLst>
              <a:gd name="adj" fmla="val 5500"/>
            </a:avLst>
          </a:prstGeom>
          <a:solidFill>
            <a:srgbClr val="141D33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2596896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676"/>
                </a:solidFill>
                <a:latin typeface="Space Grotesk"/>
              </a:rPr>
              <a:t>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3035808"/>
            <a:ext cx="318211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C7D2E8"/>
                </a:solidFill>
                <a:latin typeface="Inter"/>
              </a:rPr>
              <a:t>Cameras count vehicles on every approach, in real time. No new roadworks: SABZ reads the cameras an intersection already has.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2395728"/>
            <a:ext cx="3630168" cy="1828800"/>
          </a:xfrm>
          <a:prstGeom prst="roundRect">
            <a:avLst>
              <a:gd name="adj" fmla="val 5500"/>
            </a:avLst>
          </a:prstGeom>
          <a:solidFill>
            <a:srgbClr val="141D33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2596896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676"/>
                </a:solidFill>
                <a:latin typeface="Space Grotesk"/>
              </a:rPr>
              <a:t>THINK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3035808"/>
            <a:ext cx="318211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C7D2E8"/>
                </a:solidFill>
                <a:latin typeface="Inter"/>
              </a:rPr>
              <a:t>A trained DQN brain reads an 18-feature state of the junction and decides, every second, which road gets green.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2395728"/>
            <a:ext cx="3630168" cy="1828800"/>
          </a:xfrm>
          <a:prstGeom prst="roundRect">
            <a:avLst>
              <a:gd name="adj" fmla="val 5500"/>
            </a:avLst>
          </a:prstGeom>
          <a:solidFill>
            <a:srgbClr val="141D33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596896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676"/>
                </a:solidFill>
                <a:latin typeface="Space Grotesk"/>
              </a:rPr>
              <a:t>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3035808"/>
            <a:ext cx="318211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C7D2E8"/>
                </a:solidFill>
                <a:latin typeface="Inter"/>
              </a:rPr>
              <a:t>Signals hand green to the road that needs it, then re-check a second later. One road open at a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07408"/>
            <a:ext cx="11183112" cy="1005840"/>
          </a:xfrm>
          <a:prstGeom prst="roundRect">
            <a:avLst>
              <a:gd name="adj" fmla="val 5500"/>
            </a:avLst>
          </a:prstGeom>
          <a:solidFill>
            <a:srgbClr val="10281C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544568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0E676"/>
                </a:solidFill>
                <a:latin typeface="Space Grotesk"/>
              </a:rPr>
              <a:t>HARD-CODED SAFETY, NEVER LEARNED 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828032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EDF2F7"/>
                </a:solidFill>
                <a:latin typeface="Inter"/>
              </a:rPr>
              <a:t>Green is never cut under a car inside the 70 m dilemma zone. A starvation guard means no road waits forever. Max-green keeps every split fair.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96128"/>
            <a:ext cx="2688336" cy="822960"/>
          </a:xfrm>
          <a:prstGeom prst="roundRect">
            <a:avLst>
              <a:gd name="adj" fmla="val 5500"/>
            </a:avLst>
          </a:prstGeom>
          <a:solidFill>
            <a:srgbClr val="141D33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7842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E676"/>
                </a:solidFill>
                <a:latin typeface="Space Grotesk"/>
              </a:rPr>
              <a:t>5,506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0899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93A1C0"/>
                </a:solidFill>
                <a:latin typeface="Inter"/>
              </a:rPr>
              <a:t>model parameters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5596128"/>
            <a:ext cx="2688336" cy="822960"/>
          </a:xfrm>
          <a:prstGeom prst="roundRect">
            <a:avLst>
              <a:gd name="adj" fmla="val 5500"/>
            </a:avLst>
          </a:prstGeom>
          <a:solidFill>
            <a:srgbClr val="141D33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567842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E676"/>
                </a:solidFill>
                <a:latin typeface="Space Grotesk"/>
              </a:rPr>
              <a:t>1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60899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93A1C0"/>
                </a:solidFill>
                <a:latin typeface="Inter"/>
              </a:rPr>
              <a:t>decision cycle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5596128"/>
            <a:ext cx="2688336" cy="822960"/>
          </a:xfrm>
          <a:prstGeom prst="roundRect">
            <a:avLst>
              <a:gd name="adj" fmla="val 5500"/>
            </a:avLst>
          </a:prstGeom>
          <a:solidFill>
            <a:srgbClr val="141D33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567842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E676"/>
                </a:solidFill>
                <a:latin typeface="Space Grotesk"/>
              </a:rPr>
              <a:t>2 of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60899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93A1C0"/>
                </a:solidFill>
                <a:latin typeface="Inter"/>
              </a:rPr>
              <a:t>benchmark scenarios won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4272" y="5596128"/>
            <a:ext cx="2688336" cy="822960"/>
          </a:xfrm>
          <a:prstGeom prst="roundRect">
            <a:avLst>
              <a:gd name="adj" fmla="val 5500"/>
            </a:avLst>
          </a:prstGeom>
          <a:solidFill>
            <a:srgbClr val="141D33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7152" y="567842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E676"/>
                </a:solidFill>
                <a:latin typeface="Space Grotesk"/>
              </a:rPr>
              <a:t>7.3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60899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93A1C0"/>
                </a:solidFill>
                <a:latin typeface="Inter"/>
              </a:rPr>
              <a:t>best average delay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93A1C0"/>
                </a:solidFill>
                <a:latin typeface="Inter"/>
              </a:rPr>
              <a:t>SABZ · AI-ADAPTIVE TRAFFIC SIGNALS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528816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>
                <a:solidFill>
                  <a:srgbClr val="93A1C0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7744"/>
            <a:ext cx="1691640" cy="601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>
                <a:solidFill>
                  <a:srgbClr val="EDF2F7"/>
                </a:solidFill>
                <a:latin typeface="Space Grotesk"/>
              </a:rPr>
              <a:t>System 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536192"/>
            <a:ext cx="1024128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93A1C0"/>
                </a:solidFill>
                <a:latin typeface="Inter"/>
              </a:rPr>
              <a:t>SABZ · AI-ADAPTIVE TRAFFIC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28816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>
                <a:solidFill>
                  <a:srgbClr val="93A1C0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"/>
            <a:ext cx="1874519" cy="6664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0700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0E676"/>
                </a:solidFill>
                <a:latin typeface="Space Grotesk"/>
              </a:rPr>
              <a:t>LIVE DEMO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36192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EDF2F7"/>
                </a:solidFill>
                <a:latin typeface="Space Grotesk"/>
              </a:rPr>
              <a:t>Watch it beat the fixed timer,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95728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7D2E8"/>
                </a:solidFill>
                <a:latin typeface="Inter"/>
              </a:rPr>
              <a:t>Two identical intersections. Same rush-hour traffic, same start. One runs a blind 30-second fixed timer. The other runs the real trained SABZ brain, deciding every second, one road open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1188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00E676"/>
                </a:solidFill>
                <a:latin typeface="Inter"/>
              </a:rPr>
              <a:t>•  </a:t>
            </a:r>
            <a:r>
              <a:rPr sz="1450" b="0">
                <a:solidFill>
                  <a:srgbClr val="EDF2F7"/>
                </a:solidFill>
                <a:latin typeface="Inter"/>
              </a:rPr>
              <a:t>Identical traffic generated live on both sides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41648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00E676"/>
                </a:solidFill>
                <a:latin typeface="Inter"/>
              </a:rPr>
              <a:t>•  </a:t>
            </a:r>
            <a:r>
              <a:rPr sz="1450" b="0">
                <a:solidFill>
                  <a:srgbClr val="EDF2F7"/>
                </a:solidFill>
                <a:latin typeface="Inter"/>
              </a:rPr>
              <a:t>Real trained weights: the same 5,506-parameter brain from our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471416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00E676"/>
                </a:solidFill>
                <a:latin typeface="Inter"/>
              </a:rPr>
              <a:t>•  </a:t>
            </a:r>
            <a:r>
              <a:rPr sz="1450" b="0">
                <a:solidFill>
                  <a:srgbClr val="EDF2F7"/>
                </a:solidFill>
                <a:latin typeface="Inter"/>
              </a:rPr>
              <a:t>Every decision explained on screen, in English and Urdu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029200"/>
            <a:ext cx="2313432" cy="1170432"/>
          </a:xfrm>
          <a:prstGeom prst="roundRect">
            <a:avLst>
              <a:gd name="adj" fmla="val 5500"/>
            </a:avLst>
          </a:prstGeom>
          <a:solidFill>
            <a:srgbClr val="141D33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157216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00E676"/>
                </a:solidFill>
                <a:latin typeface="Space Grotesk"/>
              </a:rPr>
              <a:t>2/3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650992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1C0"/>
                </a:solidFill>
                <a:latin typeface="Inter"/>
              </a:rPr>
              <a:t>scenarios won against actuated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5029200"/>
            <a:ext cx="2313432" cy="1170432"/>
          </a:xfrm>
          <a:prstGeom prst="roundRect">
            <a:avLst>
              <a:gd name="adj" fmla="val 5500"/>
            </a:avLst>
          </a:prstGeom>
          <a:solidFill>
            <a:srgbClr val="141D33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5157216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00E676"/>
                </a:solidFill>
                <a:latin typeface="Space Grotesk"/>
              </a:rPr>
              <a:t>7.3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5650992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1C0"/>
                </a:solidFill>
                <a:latin typeface="Inter"/>
              </a:rPr>
              <a:t>best average delay per vehicle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5029200"/>
            <a:ext cx="2313432" cy="1170432"/>
          </a:xfrm>
          <a:prstGeom prst="roundRect">
            <a:avLst>
              <a:gd name="adj" fmla="val 5500"/>
            </a:avLst>
          </a:prstGeom>
          <a:solidFill>
            <a:srgbClr val="141D33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5157216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00E676"/>
                </a:solidFill>
                <a:latin typeface="Space Grotesk"/>
              </a:rPr>
              <a:t>47%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5650992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1C0"/>
                </a:solidFill>
                <a:latin typeface="Inter"/>
              </a:rPr>
              <a:t>less delay in the best live battle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395728"/>
            <a:ext cx="3593592" cy="3803904"/>
          </a:xfrm>
          <a:prstGeom prst="roundRect">
            <a:avLst>
              <a:gd name="adj" fmla="val 5500"/>
            </a:avLst>
          </a:prstGeom>
          <a:solidFill>
            <a:srgbClr val="141D33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96528" y="2615184"/>
            <a:ext cx="2194560" cy="2194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em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706624"/>
            <a:ext cx="2011680" cy="2011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92440" y="4956048"/>
            <a:ext cx="3593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00E676"/>
                </a:solidFill>
                <a:latin typeface="Space Grotesk"/>
              </a:rPr>
              <a:t>SCAN FOR THE LIVE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5303520"/>
            <a:ext cx="3227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93A1C0"/>
                </a:solidFill>
                <a:latin typeface="Inter"/>
              </a:rPr>
              <a:t>Run the battle on your phone: fixed timer vs the SABZ brain.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870448"/>
            <a:ext cx="35935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93A1C0"/>
                </a:solidFill>
                <a:latin typeface="Inter"/>
              </a:rPr>
              <a:t>github.com/pakmultilinks-dot/sabz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93A1C0"/>
                </a:solidFill>
                <a:latin typeface="Inter"/>
              </a:rPr>
              <a:t>SABZ · AI-ADAPTIVE TRAFFIC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>
                <a:solidFill>
                  <a:srgbClr val="93A1C0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